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ctrTitle"/>
          </p:nvPr>
        </p:nvSpPr>
        <p:spPr>
          <a:xfrm>
            <a:off x="914400" y="2100000"/>
            <a:ext cx="10363200" cy="1400000"/>
          </a:xfrm>
        </p:spPr>
        <p:txBody>
          <a:bodyPr anchor="b"/>
          <a:lstStyle/>
          <a:p>
            <a:r>
              <a:rPr lang="es-CL"/>
              <a:t>Texto</a:t>
            </a:r>
          </a:p>
        </p:txBody>
      </p:sp>
      <p:sp>
        <p:nvSpPr>
          <p:cNvPr id="3" name="Subtitulo"/>
          <p:cNvSpPr>
            <a:spLocks noGrp="1"/>
          </p:cNvSpPr>
          <p:nvPr>
            <p:ph type="subTitle" idx="1"/>
          </p:nvPr>
        </p:nvSpPr>
        <p:spPr>
          <a:xfrm>
            <a:off x="914400" y="3700000"/>
            <a:ext cx="10363200" cy="10000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es-CL"/>
              <a:t>Texto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000000"/>
          </a:xfrm>
        </p:spPr>
        <p:txBody>
          <a:bodyPr anchor="ctr"/>
          <a:lstStyle/>
          <a:p>
            <a:r>
              <a:rPr lang="es-CL"/>
              <a:t>Texto</a:t>
            </a:r>
          </a:p>
        </p:txBody>
      </p:sp>
      <p:sp>
        <p:nvSpPr>
          <p:cNvPr id="3" name="Contenido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r>
              <a:rPr lang="es-CL"/>
              <a:t>Texto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rra"/>
          <p:cNvSpPr/>
          <p:nvPr userDrawn="1"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000000"/>
          </a:xfrm>
        </p:spPr>
        <p:txBody>
          <a:bodyPr anchor="ctr"/>
          <a:lstStyle/>
          <a:p>
            <a:r>
              <a:rPr lang="es-CL"/>
              <a:t>Texto</a:t>
            </a:r>
          </a:p>
        </p:txBody>
      </p:sp>
      <p:sp>
        <p:nvSpPr>
          <p:cNvPr id="3" name="Contenido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r>
              <a:rPr lang="es-CL"/>
              <a:t>Texto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600" b="1">
          <a:solidFill>
            <a:schemeClr val="tx2"/>
          </a:solidFill>
          <a:latin typeface="+mj-lt"/>
        </a:defRPr>
      </a:lvl1pPr>
    </p:titleStyle>
    <p:bodyStyle>
      <a:lvl1pPr marL="342900" indent="-285750">
        <a:spcBef>
          <a:spcPts val="600"/>
        </a:spcBef>
        <a:buFont typeface="Arial"/>
        <a:buChar char="•"/>
        <a:defRPr sz="2400">
          <a:solidFill>
            <a:schemeClr val="tx1"/>
          </a:solidFill>
          <a:latin typeface="+mn-lt"/>
        </a:defRPr>
      </a:lvl1pPr>
      <a:lvl2pPr marL="742950" indent="-285750">
        <a:spcBef>
          <a:spcPts val="600"/>
        </a:spcBef>
        <a:buFont typeface="Arial"/>
        <a:buChar char="•"/>
        <a:defRPr sz="2000">
          <a:solidFill>
            <a:schemeClr val="tx1"/>
          </a:solidFill>
          <a:latin typeface="+mn-lt"/>
        </a:defRPr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L"/>
              <a:t>Resultados del tercer trimestre</a:t>
            </a:r>
          </a:p>
        </p:txBody>
      </p:sp>
      <p:sp>
        <p:nvSpPr>
          <p:cNvPr id="3" name="Contenid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L"/>
              <a:t>Equipo comercial ·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/>
              <a:t>Resumen</a:t>
            </a:r>
          </a:p>
        </p:txBody>
      </p:sp>
      <p:sp>
        <p:nvSpPr>
          <p:cNvPr id="3" name="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L"/>
              <a:t>Ventas +12 % frente al trimestre anterior</a:t>
            </a:r>
          </a:p>
          <a:p>
            <a:r>
              <a:rPr lang="es-CL"/>
              <a:t>Tres clientes concentran el 60 %</a:t>
            </a:r>
          </a:p>
          <a:p>
            <a:r>
              <a:rPr lang="es-CL"/>
              <a:t>Objetivo del cuarto trimestre: diversificar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/>
              <a:t>Próximos pasos</a:t>
            </a:r>
          </a:p>
        </p:txBody>
      </p:sp>
      <p:sp>
        <p:nvSpPr>
          <p:cNvPr id="3" name="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L"/>
              <a:t>Reunión con los clientes clave</a:t>
            </a:r>
          </a:p>
          <a:p>
            <a:r>
              <a:rPr lang="es-CL"/>
              <a:t>Campaña para cuentas nuevas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icina">
  <a:themeElements>
    <a:clrScheme name="Oficina">
      <a:dk1>
        <a:srgbClr val="222222"/>
      </a:dk1>
      <a:lt1>
        <a:srgbClr val="FFFFFF"/>
      </a:lt1>
      <a:dk2>
        <a:srgbClr val="1F3864"/>
      </a:dk2>
      <a:lt2>
        <a:srgbClr val="EEEEEE"/>
      </a:lt2>
      <a:accent1>
        <a:srgbClr val="2F5496"/>
      </a:accent1>
      <a:accent2>
        <a:srgbClr val="C55A11"/>
      </a:accent2>
      <a:accent3>
        <a:srgbClr val="548235"/>
      </a:accent3>
      <a:accent4>
        <a:srgbClr val="BF9000"/>
      </a:accent4>
      <a:accent5>
        <a:srgbClr val="7030A0"/>
      </a:accent5>
      <a:accent6>
        <a:srgbClr val="0E7C86"/>
      </a:accent6>
      <a:hlink>
        <a:srgbClr val="0563C1"/>
      </a:hlink>
      <a:folHlink>
        <a:srgbClr val="954F72"/>
      </a:folHlink>
    </a:clrScheme>
    <a:fontScheme name="Oficin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icin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